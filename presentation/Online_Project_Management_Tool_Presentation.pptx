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</a:defRPr>
            </a:pPr>
            <a:r>
              <a:t>ENTERPRISE ARCHITECTURE PRESENTATION</a:t>
            </a:r>
          </a:p>
          <a:p>
            <a:pPr>
              <a:spcAft>
                <a:spcPts val="1400"/>
              </a:spcAft>
              <a:defRPr sz="4000" b="1">
                <a:solidFill>
                  <a:srgbClr val="FFFFFF"/>
                </a:solidFill>
              </a:defRPr>
            </a:pPr>
            <a:r>
              <a:t>Online Project Management Tool</a:t>
            </a:r>
          </a:p>
          <a:p>
            <a:pPr>
              <a:spcAft>
                <a:spcPts val="3000"/>
              </a:spcAft>
              <a:defRPr sz="1600">
                <a:solidFill>
                  <a:srgbClr val="CBD5E1"/>
                </a:solidFill>
              </a:defRPr>
            </a:pPr>
            <a:r>
              <a:t>A Multithreaded Enterprise Web Application with Embedded Relational JDBC Engine, Role-Based Access Control, and Dynamic Progress Synchronization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Track: 3rd Semester Java Live Project | Technology Stack: Core Java 21, JDBC, Embedded SQL Engine, HTTP Servlets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</a:defRPr>
            </a:pPr>
            <a:r>
              <a:t>ONLINE PROJECT MANAGEMENT TOOL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Problem Statement &amp; Industry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Operational Challenges in Engineering Teams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Fragmented Work Visibility: Tasks spread across ad-hoc chat channels, spreadsheets, and emails leading to missed deadlines.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Progress Opacity: Project managers lack instant, deterministic tracking of aggregate progress as individual tasks update.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Role Ambiguity: Uncontrolled permission models permit unauthorized status changes, scope alterations, and data leakage.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Resource Friction: Team members spend excessive time logging work or locating current priorities instead of delivering code.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Engineering Objectives &amp; Core Requirements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Unified Multi-Role Platform: Distinct, purpose-built dashboards for Administrators, Project Managers, and Team Members.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Automated Progress Synchronization: Real-time recalculation of milestone and project completion percentages upon task transitions.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Full Audit Accountability: Thread-safe, non-blocking logging of all security-sensitive actions and record modifications.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Zero Third-Party Dependency Footprint: Completely self-contained execution powered by standard Java 21 runtime.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</a:defRPr>
            </a:pPr>
            <a:r>
              <a:t>ONLINE PROJECT MANAGEMENT TOOL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Proposed Solution &amp; System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29184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Administrator Suite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Enterprise User Lifecycle: Account provisioning, status activation/deactivation, and role assignment.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Comprehensive Audit Trail: Filterable audit stream capturing user IDs, timestamps, actions, and source IP addresses.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System Parameter Management: Dynamic runtime configuration updates without requiring application restarts.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System Health Metrics: High-level overview of users, projects, tasks, and database storage.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29184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Project Manager Suite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Project Portfolio Catalog: Creation, scheduling, budget allocation, and priority tracking.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Deliverable Assignment: Task creation, milestone binding, deadline assignment, and developer allocation.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Automated Progress Meters: Instant visual percentage and task completion ratio metrics.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Project Analytics: Real-time calculation of logged vs estimated hours and task distribution.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38328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Team Member Suite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Interactive Kanban Board: Columns for To Do, In Progress, Code Review, and Completed items.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One-Click State Transitions: Systematic progression of assigned tasks through development lifecycle.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Granular Time Tracking: Precision work hour logging with activity notes and audit timestamps.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Contextual Collaboration: Per-task discussion feeds and technical decision history.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</a:defRPr>
            </a:pPr>
            <a:r>
              <a:t>ONLINE PROJECT MANAGEMENT TOOL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Stakeholder Roles &amp; Permission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102412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Access Control Matrix (RBAC Enforcement via Servlet Filters)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Role: ADMINISTRATOR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- Access Scope: Global system settings, user database, audit stream, all project records.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- Permissions: CREATE_USER, EDIT_USER, TOGGLE_USER_STATUS, VIEW_AUDIT_LOGS, CONFIGURE_SYSTEM.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Role: PROJECT_MANAGER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- Access Scope: Projects managed by user, assignable team member pool, all associated tasks and milestones.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- Permissions: CREATE_PROJECT, EDIT_PROJECT, DELETE_PROJECT, ASSIGN_TASKS, VIEW_PROJECT_ANALYTICS.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Role: TEAM_MEMBER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- Access Scope: Assigned deliverables, active project workspaces, task discussion feeds, work logging.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  - Permissions: VIEW_ASSIGNED_TASKS, UPDATE_TASK_STATUS, LOG_WORK_HOURS, POST_COMMENTS.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Security Architecture: Every incoming HTTP request is intercepted by RoleAuthorizationFilter prior to reaching servlet controller dispatch.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</a:defRPr>
            </a:pPr>
            <a:r>
              <a:t>ONLINE PROJECT MANAGEMENT TOOL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Multi-Tiered Architecture &amp; Component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329184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Presentation Layer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Single Page Architecture (SPA): Responsive HTML5, modular CSS design system, and vanilla JavaScript.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Professional Design System: Slate and Navy enterprise palette, crisp typography, accessible tables, and Kanban boards.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Unified REST Client (Api.js): Session token header propagation, error interception, and JSON serialization.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Zero External Frameworks: No React, Vue, or Angular dependencies needed; instant browser rendering.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29184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Service &amp; Dispatch Layer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DispatcherServlet: Pattern-based HTTP routing supporting parameterized URI templates (e.g., /api/tasks/{id}).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Filter Pipeline: AuthenticationFilter for Bearer token validation and RoleAuthorizationFilter for RBAC.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Domain Services: AuthService, UserService, ProjectService, and TaskService encapsulating business invariants.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Decoupled Concurrency: AsyncWorkerPool and EventBus for asynchronous audit logging and notification handling.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45920"/>
            <a:ext cx="338328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Persistence Layer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Generic DAO Pattern: GenericDao&lt;T, ID&gt; and AbstractJdbcDao&lt;T, ID&gt; with parameterized SQL execution.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ThreadSafeConnectionPool: Resilient pooling mechanism with connection borrowing, timeout limits, and health checks.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Embedded Relational Engine: Pure Java standard JDBC driver implementation (EmbeddedConnection, EmbeddedPreparedStatement).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ACID Transaction Manager: TransactionManager supporting commit, rollback, and thread-local isolation.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</a:defRPr>
            </a:pPr>
            <a:r>
              <a:t>ONLINE PROJECT MANAGEMENT TOOL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Relational Database Schema &amp; Entity Relationships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Core Relational Entities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users (id, email, password_hash, salt, full_name, role, department, job_title, status, created_at, updated_at)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projects (id, code, title, description, manager_id, status, priority, budget, start_date, due_date, task_count, completed_task_count, progress_percentage)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milestones (id, project_id, title, due_date, status)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tasks (id, code, project_id, milestone_id, assignee_id, creator_id, title, description, status, priority, estimated_hours, logged_hours, due_date, completed_at)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task_time_logs (id, task_id, user_id, hours_spent, log_date, note, created_at)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comments (id, task_id, user_id, content, created_at, updated_at)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audit_logs (id, user_id, action, entity_type, entity_id, details, ip_address, created_at)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system_settings (id, key, value, description, updated_at)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Referential Integrity &amp; Constraints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Foreign Key Relationships: Tasks reference projects(id) and users(id); Time logs and comments reference tasks(id).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Automated Code Numbering: System generates structured codes (e.g. PRJ-101, PRJ-101-T1) for fast human indexing.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Database Migration Runner: DatabaseMigrationRunner parses and executes schema.sql upon server boot.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Zero External DB Setup: Embedded engine reads and writes to local disk with full JDBC metadata compatibility.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</a:defRPr>
            </a:pPr>
            <a:r>
              <a:t>ONLINE PROJECT MANAGEMENT TOOL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Core Java &amp; Object-Oriented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Encapsulation, Inheritance &amp; Base Abstractions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BaseEntity Abstraction: Common identity (id) and audit timestamps (createdAt, updatedAt) inherited across all domain models.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Interface Segregation: Identifiable&lt;ID&gt;, Auditable, GenericDao&lt;T, ID&gt;, and dedicated service interfaces (AuthService, ProjectService, TaskService).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Strict Encapsulation: Private entity fields accessed via strongly typed getters/setters with defensive copies and validation rules.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Factory and Singleton Patterns: AppConfig, DatabaseManager, and AsyncWorkerPool ensure controlled singleton lifecycles.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Polymorphism &amp; Exception Hierarchy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Polymorphic DAO Operations: AbstractJdbcDao provides generic CRUD workflows overridden by entity-specific DAOs.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Robust Exception Hierarchy: Root AppException subclassed into ValidationException (400), AuthenticationException (401), UnauthorizedException (403), ResourceNotFoundException (404), and DatabaseException (500).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Centralized Error Translation: Exceptions carry HTTP status codes and user-friendly error codes mapped automatically by DispatcherServlet.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Safe Reflection: AppServer utilizes runtime discovery to cleanly seed initial data without tight circular compilation coupling.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</a:defRPr>
            </a:pPr>
            <a:r>
              <a:t>ONLINE PROJECT MANAGEMENT TOOL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Collections Framework &amp; Type-Safe Generics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Generic Type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Generic Repository Base: AbstractJdbcDao&lt;T extends BaseEntity, ID extends Serializable&gt; eliminates repetitive boilerplate across 8 DAOs.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Type-Safe Queries: Generic row mapping and query utilities ensure compile-time type safety for entity retrieval.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Parameterized Results: Optional&lt;T&gt; and List&lt;T&gt; return types enforce null safety throughout the service and persistence layers.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Generic Connection Pool: ThreadSafeConnectionPool manages generic blocking queues with parameterized borrowing contracts.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Collections Applied Across Components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Concurrent Linked Queues &amp; Maps: ConcurrentHashMap in session stores and event listener registries to avoid lock contention.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LinkedHashMap for Query Projections: Preserves deterministic insertion order when building JSON responses and table definitions.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ArrayList &amp; Arrays Utility: Dynamic task search and filtering with criteria-based filtering and sorting.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Immutable Sets for Security Routing: Set.of(...) for fast O(1) public API endpoint authorization evaluations.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</a:defRPr>
            </a:pPr>
            <a:r>
              <a:t>ONLINE PROJECT MANAGEMENT TOOL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Multithreading, Concurrency &amp; Synchronization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AsyncWorkerPool &amp; Thread Management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Custom ThreadPoolExecutor: Configurable core pool size (4 threads), max pool size (8 threads), and bounded queue capacity (500 items).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Daemon Worker Threads: Custom ThreadFactory instantiating named worker threads (PMTool-Worker-N) for clear thread diagnostics.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Graceful Shutdown Lifecycle: Shutdown hook ensures tasks in queue complete execution within 5-second timeout window.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CallerRunsPolicy Rejection: Backpressure handling ensures system stability under sudden heavy request bursts.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Thread-Safe Connection Pool &amp; EventBus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Synchronized Connection Borrowing: ThreadSafeConnectionPool implements double-checked locking and synchronized pool acquisition.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ThreadLocal Isolation: SecurityContext uses ThreadLocal&lt;User&gt; ensuring clean thread isolation without request crossover.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Asynchronous Event Bus: EventBus publishes TaskStatusChangedEvent and AuditLogEvent for background processing.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Non-Blocking Audit Logging: Audit records are written to persistence asynchronously without adding latency to user requests.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</a:defRPr>
            </a:pPr>
            <a:r>
              <a:t>ONLINE PROJECT MANAGEMENT TOOL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Automated Progress Synchronization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Mathematical Model &amp; State Transitions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Progress Formula: Progress (%) = (Completed Tasks / Total Project Tasks) * 100.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Edge Case Handling: If Total Tasks = 0, Progress is set to 0%; If all tasks are completed, Progress is 100%.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Automated Project Status Updating: When progress reaches 100%, project status automatically transitions to COMPLETED.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State Machine Validation: Tasks enforce valid transitions (TODO -&gt; IN_PROGRESS -&gt; IN_REVIEW -&gt; COMPLETED).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Real-Time Event-Driven Sync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Trigger: TaskServiceImpl.updateTaskStatus(...) updates task and dispatches TaskStatusChangedEvent.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Subscriber: EventBus notifies listener, which invokes ProjectDao.syncAggregatedTaskCounts(projectId).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Atomic Aggregation: SQL query aggregates completed vs total tasks and updates project table atomically.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Immediate Client Reflection: UI progress bars, completion percentages, and metric badges update seamlessly.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</a:defRPr>
            </a:pPr>
            <a:r>
              <a:t>ONLINE PROJECT MANAGEMENT TOOL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Application Security &amp; Session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Cryptographic Credential Protection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Cryptographic Salting: Unique 16-byte cryptographically secure random salt generated per user via SecureRandom.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PBKDF2 / SHA-256 Hashing: PasswordHasher performs multi-iteration salted key derivation, preventing rainbow table attacks.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Zero Plaintext Storage: Raw passwords are never persisted or returned in API responses (toSafeMap() sanitization).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Safe User Representation: Sensitive cryptographic fields (password_hash, salt) stripped before JSON serialization.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Session Management &amp; RBAC Pipeline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Stateless Token Sessions: UUID-based cryptographically random session tokens managed in-memory with expiration policies.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Bearer Header &amp; Cookie Support: Supports Authorization: Bearer &lt;token&gt; for API requests and HTTP cookies for browser navigation.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Servlet Filter Security: AuthenticationFilter intercepts protected routes; RoleAuthorizationFilter enforces role boundaries.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ThreadLocal Cleanup: SecurityContext.clear() called within finally blocks preventing memory leaks.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</a:defRPr>
            </a:pPr>
            <a:r>
              <a:t>ONLINE PROJECT MANAGEMENT TOOL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Enterprise User Interface &amp; Dashboard Views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Human-Crafted Corporate Design Tokens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Color Palette: Deep Slate (#0F172A), Slate Blue (#1E293B), Precision Blue Accent (#2563EB), Crisp Slate Canvas (#F8FAFC).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Zero AI Clutter: Strictly no emojis, no excessive gradients, no exaggerated pill cards, and no distracting animations.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Responsive Layout: Mobile and desktop friendly sidebar navigation, fluid data tables, and dynamic grid cards.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Accessible Status Badges: Distinct color-coded badges for statuses (To Do, In Progress, In Review, Completed) and priorities.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Role-Specific Dashboards in Action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Admin View: System health metrics, user account CRUD, status activation, and live audit stream.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Manager View: Project portfolio progress meters, budget utilization, task allocation modal, and team velocity metrics.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Team Member View: Assigned task queue, interactive 4-column Kanban board, inline state transitions, and time logging.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Collaboration View: Task detail modal with chronological discussion stream and activity logging.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</a:defRPr>
            </a:pPr>
            <a:r>
              <a:t>ONLINE PROJECT MANAGEMENT TOOL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Conclusion &amp; Architectural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Core Technical Foundations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Object-Oriented Design: BaseEntity, domain interfaces, polymorphism, custom exception hierarchy, and clean encapsulation.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Collections &amp; Generics: GenericDao&lt;T, ID&gt;, ConcurrentHashMap, LinkedHashMap, and type-safe query results.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Multithreading &amp; Synchronization: AsyncWorkerPool, ThreadSafeConnectionPool, ThreadLocal security context, and EventBus.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Database Operations &amp; DAO Pattern: Complete DAO layer with 8 specialized repositories and transaction isolation.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Standard JDBC Connectivity: Pure java.sql.Driver, Connection, PreparedStatement, and ResultSet implementation.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Servlets &amp; Web Integration: Lightweight HTTP server, DispatcherServlet, FilterChain, and RESTful controllers.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</a:defRPr>
            </a:pPr>
            <a:r>
              <a:t>Project Deliverables &amp; Repository Structure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Version Control: Systematic, cleanly structured commits tracking modular engineering progression.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Presentation Deck: 13-slide executive presentation deck (Online_Project_Management_Tool_Presentation.pptx).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Automated Launch Scripts: run.bat and run.ps1 for single-click compilation, database migration, seeding, and execution.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Production Documentation: Comprehensive README.md with architecture diagrams, setup guide, and REST API catalog.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</a:defRPr>
            </a:pPr>
            <a:r>
              <a:t>• Demo Credentials: Pre-configured accounts for Administrator, Project Manager, and Team Member for instant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